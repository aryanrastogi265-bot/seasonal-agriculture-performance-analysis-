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0F0CA-A78E-40D6-9EF1-CB29550516AC}" v="234" dt="2026-09-07T10:03:48.941"/>
    <p1510:client id="{8F45A3EF-1F5C-47BC-8657-96C1746596F5}" v="59" dt="2026-09-07T13:21:50.328"/>
    <p1510:client id="{93FE2349-A051-4814-8B2F-B704AAB37367}" v="50" dt="2026-09-07T13:28:21.329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rot="-10800000" flipV="1">
            <a:off x="184423" y="3904922"/>
            <a:ext cx="4321574" cy="14245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0"/>
            <a:r>
              <a:rPr lang="en-US" sz="2000" b="0" i="0" u="none" strike="noStrike" baseline="0">
                <a:solidFill>
                  <a:srgbClr val="000000"/>
                </a:solidFill>
                <a:latin typeface="Trebuchet MS"/>
                <a:ea typeface="Segoe UI"/>
                <a:cs typeface="Segoe UI"/>
              </a:rPr>
              <a:t>Student Name : Aryan Rastogi </a:t>
            </a:r>
            <a:r>
              <a:rPr lang="en-IN" sz="2000" b="0" i="0">
                <a:solidFill>
                  <a:srgbClr val="000000"/>
                </a:solidFill>
                <a:latin typeface="Trebuchet MS"/>
                <a:ea typeface="Segoe UI"/>
                <a:cs typeface="Segoe UI"/>
              </a:rPr>
              <a:t>​</a:t>
            </a:r>
          </a:p>
          <a:p>
            <a:pPr algn="r" rtl="0"/>
            <a:r>
              <a:rPr lang="en-US" sz="2000" b="0" i="0" u="none" strike="noStrike" baseline="0">
                <a:solidFill>
                  <a:srgbClr val="000000"/>
                </a:solidFill>
                <a:latin typeface="Trebuchet MS"/>
                <a:ea typeface="Segoe UI"/>
                <a:cs typeface="Segoe UI"/>
              </a:rPr>
              <a:t>   College Name : Amity University</a:t>
            </a:r>
            <a:r>
              <a:rPr lang="en-IN" sz="2000" b="0" i="0">
                <a:solidFill>
                  <a:srgbClr val="000000"/>
                </a:solidFill>
                <a:latin typeface="Trebuchet MS"/>
                <a:ea typeface="Segoe UI"/>
                <a:cs typeface="Segoe UI"/>
              </a:rPr>
              <a:t>​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178" y="2791589"/>
            <a:ext cx="11023834" cy="796609"/>
          </a:xfrm>
        </p:spPr>
        <p:txBody>
          <a:bodyPr>
            <a:normAutofit/>
          </a:bodyPr>
          <a:lstStyle/>
          <a:p>
            <a:r>
              <a:rPr lang="en-GB" sz="3200" b="1" dirty="0"/>
              <a:t>Project Title -</a:t>
            </a:r>
            <a:r>
              <a:rPr lang="en-GB" sz="3200" b="1" dirty="0">
                <a:ea typeface="+mn-lt"/>
                <a:cs typeface="+mn-lt"/>
              </a:rPr>
              <a:t> Seasonal Agriculture Performance Analysis</a:t>
            </a:r>
            <a:endParaRPr lang="en-IN" sz="3200" b="1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14383" y="4727097"/>
            <a:ext cx="590538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AICTE STU ID : (</a:t>
            </a:r>
            <a:r>
              <a:rPr lang="en-US" sz="1400" b="1" dirty="0">
                <a:solidFill>
                  <a:srgbClr val="020617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STU69611c333f6211767971891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714815" cy="459149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IN" sz="2800" dirty="0">
                <a:ea typeface="+mn-lt"/>
                <a:cs typeface="+mn-lt"/>
              </a:rPr>
              <a:t>Farming outcomes change drastically from season to season due to weather, water availability, and market rates. </a:t>
            </a:r>
          </a:p>
          <a:p>
            <a:r>
              <a:rPr lang="en-IN" sz="2800" dirty="0">
                <a:ea typeface="+mn-lt"/>
                <a:cs typeface="+mn-lt"/>
              </a:rPr>
              <a:t>Raw farm records don't easily show why some seasons fail while others thrive. </a:t>
            </a:r>
            <a:endParaRPr lang="en-IN" dirty="0">
              <a:ea typeface="+mn-lt"/>
              <a:cs typeface="+mn-lt"/>
            </a:endParaRPr>
          </a:p>
          <a:p>
            <a:r>
              <a:rPr lang="en-IN" sz="2800" b="1" dirty="0">
                <a:ea typeface="+mn-lt"/>
                <a:cs typeface="+mn-lt"/>
              </a:rPr>
              <a:t>Our Goal:</a:t>
            </a:r>
            <a:r>
              <a:rPr lang="en-IN" sz="2800" dirty="0">
                <a:ea typeface="+mn-lt"/>
                <a:cs typeface="+mn-lt"/>
              </a:rPr>
              <a:t> </a:t>
            </a:r>
            <a:r>
              <a:rPr lang="en-IN" sz="2800" dirty="0" err="1">
                <a:ea typeface="+mn-lt"/>
                <a:cs typeface="+mn-lt"/>
              </a:rPr>
              <a:t>Analyze</a:t>
            </a:r>
            <a:r>
              <a:rPr lang="en-IN" sz="2800" dirty="0">
                <a:ea typeface="+mn-lt"/>
                <a:cs typeface="+mn-lt"/>
              </a:rPr>
              <a:t> 4,000 farm records across Kharif, Rabi, and Zaid to find clear patterns in crop yield, water use, and farmer profits, helping farmers and planners make smarter decisions. </a:t>
            </a:r>
            <a:endParaRPr lang="en-IN" dirty="0">
              <a:ea typeface="+mn-lt"/>
              <a:cs typeface="+mn-lt"/>
            </a:endParaRPr>
          </a:p>
          <a:p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19" y="805213"/>
            <a:ext cx="8624133" cy="405694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Project Description</a:t>
            </a:r>
            <a:br>
              <a:rPr lang="en-GB" dirty="0"/>
            </a:br>
            <a:r>
              <a:rPr lang="en-GB" sz="2000" dirty="0"/>
              <a:t>[</a:t>
            </a:r>
            <a:r>
              <a:rPr lang="en-GB" sz="2000" b="0" dirty="0">
                <a:ea typeface="+mj-lt"/>
                <a:cs typeface="+mj-lt"/>
              </a:rPr>
              <a:t>An end-to-end data analytics and visualization study conducted on a multi-regional agricultural dataset (4,000 records, 28 attributes) spanning environmental, agronomic, resource, and financial dimensions. • Data Preprocessing &amp; Cleaning: - Addressed missing values in Rainfall (48 rows), Soil Moisture (40 rows), and Yield (32 rows) using median and seasonal crop-wise imputation. - Standardized feature formats and engineered key analytical indicators: Yield per Hectare, Water Efficiency Ratio, and Net Profit Margins. </a:t>
            </a:r>
            <a:br>
              <a:rPr lang="en-GB" sz="2000" b="0" dirty="0">
                <a:ea typeface="+mj-lt"/>
                <a:cs typeface="+mj-lt"/>
              </a:rPr>
            </a:br>
            <a:r>
              <a:rPr lang="en-GB" sz="2000" b="0" dirty="0">
                <a:ea typeface="+mj-lt"/>
                <a:cs typeface="+mj-lt"/>
              </a:rPr>
              <a:t>• Core Analytical Dimensions: </a:t>
            </a:r>
            <a:br>
              <a:rPr lang="en-GB" sz="2000" b="0" dirty="0">
                <a:ea typeface="+mj-lt"/>
                <a:cs typeface="+mj-lt"/>
              </a:rPr>
            </a:br>
            <a:r>
              <a:rPr lang="en-GB" sz="2000" b="0" dirty="0">
                <a:ea typeface="+mj-lt"/>
                <a:cs typeface="+mj-lt"/>
              </a:rPr>
              <a:t>1. Seasonal Productivity: Comparative evaluation of crop yields across Kharif, Rabi, and Zaid. </a:t>
            </a:r>
            <a:br>
              <a:rPr lang="en-GB" sz="2000" b="0" dirty="0">
                <a:ea typeface="+mj-lt"/>
                <a:cs typeface="+mj-lt"/>
              </a:rPr>
            </a:br>
            <a:r>
              <a:rPr lang="en-GB" sz="2000" b="0" dirty="0">
                <a:ea typeface="+mj-lt"/>
                <a:cs typeface="+mj-lt"/>
              </a:rPr>
              <a:t>2. Environmental Interaction: Correlation analysis of rainfall, temperature, sunlight, and humidity against agricultural output. </a:t>
            </a:r>
            <a:br>
              <a:rPr lang="en-GB" sz="2000" b="0" dirty="0">
                <a:ea typeface="+mj-lt"/>
                <a:cs typeface="+mj-lt"/>
              </a:rPr>
            </a:br>
            <a:r>
              <a:rPr lang="en-GB" sz="2000" b="0" dirty="0">
                <a:ea typeface="+mj-lt"/>
                <a:cs typeface="+mj-lt"/>
              </a:rPr>
              <a:t>3. Resource Optimization: Benchmarking water consumption (m³) and fertilizer dosage across irrigation techniques (Drip, Sprinkler, Flood, Rainfed).</a:t>
            </a:r>
            <a:br>
              <a:rPr lang="en-GB" sz="2000" b="0" dirty="0">
                <a:ea typeface="+mj-lt"/>
                <a:cs typeface="+mj-lt"/>
              </a:rPr>
            </a:br>
            <a:r>
              <a:rPr lang="en-GB" sz="2000" b="0" dirty="0">
                <a:ea typeface="+mj-lt"/>
                <a:cs typeface="+mj-lt"/>
              </a:rPr>
              <a:t> 4. Economic Profitability: Cross-seasonal revenue vs. cost analysis identifying profitability thresholds. </a:t>
            </a:r>
            <a:r>
              <a:rPr lang="en-GB" sz="2000" dirty="0"/>
              <a:t>] </a:t>
            </a:r>
            <a:br>
              <a:rPr lang="en-GB" sz="2000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8613318" cy="399002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400" b="1" dirty="0">
                <a:ea typeface="+mn-lt"/>
                <a:cs typeface="+mn-lt"/>
              </a:rPr>
              <a:t>1. Farmers &amp; Farmer Producer Organizations (FPOs): - Access seasonal crop suitability insights and optimal sowing schedules. - Adopt precision irrigation and balanced fertilization to maximize net margin. </a:t>
            </a:r>
            <a:endParaRPr lang="en-US" sz="1400" b="1"/>
          </a:p>
          <a:p>
            <a:pPr algn="just">
              <a:lnSpc>
                <a:spcPct val="150000"/>
              </a:lnSpc>
            </a:pPr>
            <a:r>
              <a:rPr lang="en-IN" sz="1400" b="1" dirty="0">
                <a:ea typeface="+mn-lt"/>
                <a:cs typeface="+mn-lt"/>
              </a:rPr>
              <a:t>2. Agricultural Extension Officers &amp; Agronomists: - Provide localized advisory services backed by empirical yield benchmarks. - Detect early disease and pest susceptibility patterns tied to humidity and rainfall. 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ea typeface="+mn-lt"/>
                <a:cs typeface="+mn-lt"/>
              </a:rPr>
              <a:t>3. Policymakers &amp; Government Agriculture Departments: - Formulate targeted seasonal subsidy schemes (e.g., micro-irrigation incentives for Zaid). - Design evidence-driven minimum support price (MSP) interventions and drought relief programs. 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ea typeface="+mn-lt"/>
                <a:cs typeface="+mn-lt"/>
              </a:rPr>
              <a:t>4. Agri-Input Suppliers &amp; Supply Chain Managers: - Accurately forecast seasonal demand for fertilizers, drip equipment, and pesticides. - Plan storage, logistics, and cold chain capacity aligned with seasonal harvest surges.</a:t>
            </a:r>
            <a:endParaRPr lang="en-IN" sz="1400" b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500" y="1432560"/>
            <a:ext cx="9178332" cy="280682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ea typeface="+mn-lt"/>
                <a:cs typeface="+mn-lt"/>
              </a:rPr>
              <a:t>Environment:</a:t>
            </a:r>
            <a:r>
              <a:rPr lang="en-IN" dirty="0">
                <a:ea typeface="+mn-lt"/>
                <a:cs typeface="+mn-lt"/>
              </a:rPr>
              <a:t> VS Code and Google </a:t>
            </a:r>
            <a:r>
              <a:rPr lang="en-IN" dirty="0" err="1">
                <a:ea typeface="+mn-lt"/>
                <a:cs typeface="+mn-lt"/>
              </a:rPr>
              <a:t>Colab</a:t>
            </a:r>
            <a:r>
              <a:rPr lang="en-IN" dirty="0">
                <a:ea typeface="+mn-lt"/>
                <a:cs typeface="+mn-lt"/>
              </a:rPr>
              <a:t> for writing and testing python code. </a:t>
            </a:r>
            <a:endParaRPr lang="en-IN" dirty="0"/>
          </a:p>
          <a:p>
            <a:pPr lvl="1"/>
            <a:r>
              <a:rPr lang="en-IN" b="1" dirty="0">
                <a:ea typeface="+mn-lt"/>
                <a:cs typeface="+mn-lt"/>
              </a:rPr>
              <a:t>Python Libraries: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>
                <a:ea typeface="+mn-lt"/>
                <a:cs typeface="+mn-lt"/>
              </a:rPr>
              <a:t>Pandas &amp; NumPy:</a:t>
            </a:r>
            <a:r>
              <a:rPr lang="en-IN" dirty="0">
                <a:ea typeface="+mn-lt"/>
                <a:cs typeface="+mn-lt"/>
              </a:rPr>
              <a:t> For loading the dataset, fixing missing data, and calculating averages.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>
                <a:ea typeface="+mn-lt"/>
                <a:cs typeface="+mn-lt"/>
              </a:rPr>
              <a:t>Matplotlib &amp; Seaborn:</a:t>
            </a:r>
            <a:r>
              <a:rPr lang="en-IN" dirty="0">
                <a:ea typeface="+mn-lt"/>
                <a:cs typeface="+mn-lt"/>
              </a:rPr>
              <a:t> For building clean charts, heatmaps, and comparisons.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>
                <a:ea typeface="+mn-lt"/>
                <a:cs typeface="+mn-lt"/>
              </a:rPr>
              <a:t>Version Control:</a:t>
            </a:r>
            <a:r>
              <a:rPr lang="en-IN" dirty="0">
                <a:ea typeface="+mn-lt"/>
                <a:cs typeface="+mn-lt"/>
              </a:rPr>
              <a:t> Git and GitHub for saving code and project tracking. </a:t>
            </a: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6CC33B2B-B475-4189-BA8F-3CF8248DC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59AAC92-4932-4D74-A545-BA3EEE56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8446528-FA87-4017-B061-CF7EE79FA2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4D4B4D0-2493-42A2-AEEB-9970A64E8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676E13B7-7CB7-4489-914B-4012EE6EB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F2159841-C096-430C-B748-E8D2A5C99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4F167EF-5A0C-487E-8776-97310E39E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9D8C053F-F025-4CB6-94C4-2841A20D6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78581BD0-3E75-48CB-A2A3-44DB1ACB6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E90D466A-AB95-4676-82CB-3BEC98AFF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3AFED863-874C-49D9-AE2F-B9DFF00D5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823" y="-291430"/>
            <a:ext cx="4410720" cy="23284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/>
                </a:solidFill>
              </a:rPr>
              <a:t>RESULTS</a:t>
            </a:r>
            <a:br>
              <a:rPr lang="en-US" sz="5400">
                <a:solidFill>
                  <a:schemeClr val="accent1"/>
                </a:solidFill>
              </a:rPr>
            </a:br>
            <a:r>
              <a:rPr lang="en-US" sz="5400">
                <a:solidFill>
                  <a:schemeClr val="accent1"/>
                </a:solidFill>
              </a:rPr>
              <a:t>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5526570" y="2256718"/>
            <a:ext cx="3765692" cy="143811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819D39-B071-BF7E-F2B7-1FF06AE71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70" y="1274309"/>
            <a:ext cx="7648575" cy="502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92F14-BBCF-CA89-F755-C0C861081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39" y="1435554"/>
            <a:ext cx="7851321" cy="483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D482EF-4EA6-51C1-60B5-7AD97CDBF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428750"/>
            <a:ext cx="84010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81E36D-92FF-0B5B-44E3-B51E8F7DB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" y="1280432"/>
            <a:ext cx="6511017" cy="521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2A674D-3B83-586F-87F3-C6D1E9D46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66" y="1274989"/>
            <a:ext cx="922972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291873" cy="879224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Future scope</a:t>
            </a:r>
            <a:br>
              <a:rPr lang="en-IN" sz="4000" dirty="0"/>
            </a:br>
            <a:br>
              <a:rPr lang="en-IN" sz="4000" dirty="0"/>
            </a:br>
            <a:r>
              <a:rPr lang="en-IN" sz="2400" dirty="0">
                <a:ea typeface="+mj-lt"/>
                <a:cs typeface="+mj-lt"/>
              </a:rPr>
              <a:t>Yield Prediction:</a:t>
            </a:r>
            <a:r>
              <a:rPr lang="en-IN" sz="2400" b="0" dirty="0">
                <a:ea typeface="+mj-lt"/>
                <a:cs typeface="+mj-lt"/>
              </a:rPr>
              <a:t> Train machine learning models (like Random Forest) to predict harvest yield and profit before seeds are sown. </a:t>
            </a:r>
            <a:br>
              <a:rPr lang="en-IN" sz="2400" b="0" dirty="0">
                <a:ea typeface="+mj-lt"/>
                <a:cs typeface="+mj-lt"/>
              </a:rPr>
            </a:br>
            <a:endParaRPr lang="en-IN" sz="2400" b="0">
              <a:latin typeface="Arial"/>
              <a:cs typeface="Arial"/>
            </a:endParaRPr>
          </a:p>
          <a:p>
            <a:r>
              <a:rPr lang="en-IN" sz="2400" dirty="0">
                <a:ea typeface="+mj-lt"/>
                <a:cs typeface="+mj-lt"/>
              </a:rPr>
              <a:t>IoT &amp; Satellite Monitoring:</a:t>
            </a:r>
            <a:r>
              <a:rPr lang="en-IN" sz="2400" b="0" dirty="0">
                <a:ea typeface="+mj-lt"/>
                <a:cs typeface="+mj-lt"/>
              </a:rPr>
              <a:t> Connect live ground moisture sensors and satellite maps to give farmers live soil updates. </a:t>
            </a:r>
            <a:endParaRPr lang="en-IN" sz="2400"/>
          </a:p>
          <a:p>
            <a:r>
              <a:rPr lang="en-IN" sz="2400" dirty="0">
                <a:ea typeface="+mj-lt"/>
                <a:cs typeface="+mj-lt"/>
              </a:rPr>
              <a:t>Advisory Tool:</a:t>
            </a:r>
            <a:r>
              <a:rPr lang="en-IN" sz="2400" b="0" dirty="0">
                <a:ea typeface="+mj-lt"/>
                <a:cs typeface="+mj-lt"/>
              </a:rPr>
              <a:t> Create an automatic recommendation alert to suggest drought-resistant crops if bad weather is forecast. </a:t>
            </a:r>
            <a:br>
              <a:rPr lang="en-IN" sz="2400" b="0" dirty="0">
                <a:ea typeface="+mj-lt"/>
                <a:cs typeface="+mj-lt"/>
              </a:rPr>
            </a:br>
            <a:endParaRPr lang="en-IN" sz="2400"/>
          </a:p>
          <a:p>
            <a:r>
              <a:rPr lang="en-IN" sz="2400" dirty="0">
                <a:ea typeface="+mj-lt"/>
                <a:cs typeface="+mj-lt"/>
              </a:rPr>
              <a:t>Farmer Web App:</a:t>
            </a:r>
            <a:r>
              <a:rPr lang="en-IN" sz="2400" b="0" dirty="0">
                <a:ea typeface="+mj-lt"/>
                <a:cs typeface="+mj-lt"/>
              </a:rPr>
              <a:t> Build a simple web dashboard (using Streamlit) where farmers can enter their costs and see expected returns. </a:t>
            </a:r>
            <a:endParaRPr lang="en-IN" sz="2400"/>
          </a:p>
          <a:p>
            <a:endParaRPr lang="en-IN" sz="4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38" y="1717380"/>
            <a:ext cx="8749588" cy="884159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GitHub Link</a:t>
            </a:r>
            <a:br>
              <a:rPr lang="en-IN" sz="4000" dirty="0"/>
            </a:br>
            <a:r>
              <a:rPr lang="en-IN" sz="2800" b="0" dirty="0">
                <a:ea typeface="+mj-lt"/>
                <a:cs typeface="+mj-lt"/>
              </a:rPr>
              <a:t>https://github.com/aryanrastogi265-bot?tab=repositories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A1C3EF-40AA-6488-48A1-351A44DED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0" y="1493978"/>
            <a:ext cx="6430736" cy="475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581260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28175" y="3962573"/>
            <a:ext cx="6073743" cy="30821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Aryan Rastogi</a:t>
            </a:r>
          </a:p>
          <a:p>
            <a:r>
              <a:rPr lang="en-IN">
                <a:solidFill>
                  <a:schemeClr val="tx1"/>
                </a:solidFill>
              </a:rPr>
              <a:t>Amity University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 Seasonal Agriculture Performance Analysis</vt:lpstr>
      <vt:lpstr>PROBLEM  STATEMENT</vt:lpstr>
      <vt:lpstr>Project Description [An end-to-end data analytics and visualization study conducted on a multi-regional agricultural dataset (4,000 records, 28 attributes) spanning environmental, agronomic, resource, and financial dimensions. • Data Preprocessing &amp; Cleaning: - Addressed missing values in Rainfall (48 rows), Soil Moisture (40 rows), and Yield (32 rows) using median and seasonal crop-wise imputation. - Standardized feature formats and engineered key analytical indicators: Yield per Hectare, Water Efficiency Ratio, and Net Profit Margins.  • Core Analytical Dimensions:  1. Seasonal Productivity: Comparative evaluation of crop yields across Kharif, Rabi, and Zaid.  2. Environmental Interaction: Correlation analysis of rainfall, temperature, sunlight, and humidity against agricultural output.  3. Resource Optimization: Benchmarking water consumption (m³) and fertilizer dosage across irrigation techniques (Drip, Sprinkler, Flood, Rainfed).  4. Economic Profitability: Cross-seasonal revenue vs. cost analysis identifying profitability thresholds. ]  </vt:lpstr>
      <vt:lpstr>WHO ARE THE END USERS?</vt:lpstr>
      <vt:lpstr>Technology Used</vt:lpstr>
      <vt:lpstr>RESULTS  </vt:lpstr>
      <vt:lpstr>RESULTS </vt:lpstr>
      <vt:lpstr>RESULTS </vt:lpstr>
      <vt:lpstr>RESULTS </vt:lpstr>
      <vt:lpstr>RESULTS </vt:lpstr>
      <vt:lpstr>Future scope  Yield Prediction: Train machine learning models (like Random Forest) to predict harvest yield and profit before seeds are sown.   IoT &amp; Satellite Monitoring: Connect live ground moisture sensors and satellite maps to give farmers live soil updates.  Advisory Tool: Create an automatic recommendation alert to suggest drought-resistant crops if bad weather is forecast.   Farmer Web App: Build a simple web dashboard (using Streamlit) where farmers can enter their costs and see expected returns.  </vt:lpstr>
      <vt:lpstr>GitHub Link https://github.com/aryanrastogi265-bot?tab=repositories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285</cp:revision>
  <dcterms:created xsi:type="dcterms:W3CDTF">2021-07-11T13:13:15Z</dcterms:created>
  <dcterms:modified xsi:type="dcterms:W3CDTF">2026-09-07T13:28:51Z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